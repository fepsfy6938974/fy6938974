
<file path=[Content_Types].xml><?xml version="1.0" encoding="utf-8"?>
<Types xmlns="http://schemas.openxmlformats.org/package/2006/content-types">
  <Default Extension="fntdata" ContentType="application/x-fontdata"/>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Lst>
  <p:sldSz cx="18288000" cy="10287000"/>
  <p:notesSz cx="6858000" cy="9144000"/>
  <p:embeddedFontLst>
    <p:embeddedFont>
      <p:font typeface="Canva Sans" panose="020B0604020202020204" charset="0"/>
      <p:regular r:id="rId6"/>
    </p:embeddedFont>
    <p:embeddedFont>
      <p:font typeface="Canva Sans Bold" panose="020B0604020202020204" charset="0"/>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B11A05-14E4-0247-857C-6D55E87E4185}" v="4" dt="2025-12-05T02:37:18.757"/>
    <p1510:client id="{A58B31C5-450F-512F-3740-0875BB3D5F9F}" v="18" dt="2025-12-05T02:33:40.692"/>
    <p1510:client id="{BDABC587-69D6-8C3E-16CE-771033BDE263}" v="142" dt="2025-12-05T02:28:26.8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2.fntdata"/><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66464" y="-6351"/>
            <a:ext cx="7791451" cy="10295166"/>
          </a:xfrm>
          <a:prstGeom prst="rect">
            <a:avLst/>
          </a:prstGeom>
          <a:solidFill>
            <a:srgbClr val="0097B2"/>
          </a:solidFill>
        </p:spPr>
      </p:sp>
      <p:grpSp>
        <p:nvGrpSpPr>
          <p:cNvPr id="3" name="Group 3"/>
          <p:cNvGrpSpPr/>
          <p:nvPr/>
        </p:nvGrpSpPr>
        <p:grpSpPr>
          <a:xfrm>
            <a:off x="1028700" y="1028700"/>
            <a:ext cx="4866975" cy="4379442"/>
            <a:chOff x="0" y="0"/>
            <a:chExt cx="6489300" cy="5839255"/>
          </a:xfrm>
        </p:grpSpPr>
        <p:sp>
          <p:nvSpPr>
            <p:cNvPr id="4" name="TextBox 4"/>
            <p:cNvSpPr txBox="1"/>
            <p:nvPr/>
          </p:nvSpPr>
          <p:spPr>
            <a:xfrm>
              <a:off x="0" y="0"/>
              <a:ext cx="6489300" cy="4953000"/>
            </a:xfrm>
            <a:prstGeom prst="rect">
              <a:avLst/>
            </a:prstGeom>
          </p:spPr>
          <p:txBody>
            <a:bodyPr lIns="0" tIns="0" rIns="0" bIns="0" rtlCol="0" anchor="t">
              <a:spAutoFit/>
            </a:bodyPr>
            <a:lstStyle/>
            <a:p>
              <a:pPr marL="0" lvl="0" indent="0" algn="l">
                <a:lnSpc>
                  <a:spcPts val="4918"/>
                </a:lnSpc>
              </a:pPr>
              <a:r>
                <a:rPr lang="en-US" sz="4098" b="1">
                  <a:solidFill>
                    <a:srgbClr val="FFFFFF"/>
                  </a:solidFill>
                  <a:latin typeface="Canva Sans Bold"/>
                  <a:ea typeface="Canva Sans Bold"/>
                  <a:cs typeface="Canva Sans Bold"/>
                  <a:sym typeface="Canva Sans Bold"/>
                </a:rPr>
                <a:t>BENACERRAF AND FIELD'S ARGUMENTS AGAINST MATHEMATICAL PLATONISM</a:t>
              </a:r>
            </a:p>
          </p:txBody>
        </p:sp>
        <p:sp>
          <p:nvSpPr>
            <p:cNvPr id="5" name="TextBox 5"/>
            <p:cNvSpPr txBox="1"/>
            <p:nvPr/>
          </p:nvSpPr>
          <p:spPr>
            <a:xfrm>
              <a:off x="0" y="5093765"/>
              <a:ext cx="6489300" cy="745490"/>
            </a:xfrm>
            <a:prstGeom prst="rect">
              <a:avLst/>
            </a:prstGeom>
          </p:spPr>
          <p:txBody>
            <a:bodyPr lIns="0" tIns="0" rIns="0" bIns="0" rtlCol="0" anchor="t">
              <a:spAutoFit/>
            </a:bodyPr>
            <a:lstStyle/>
            <a:p>
              <a:pPr marL="0" lvl="0" indent="0" algn="l">
                <a:lnSpc>
                  <a:spcPts val="4800"/>
                </a:lnSpc>
              </a:pPr>
              <a:endParaRPr/>
            </a:p>
          </p:txBody>
        </p:sp>
      </p:grpSp>
      <p:sp>
        <p:nvSpPr>
          <p:cNvPr id="6" name="TextBox 6"/>
          <p:cNvSpPr txBox="1"/>
          <p:nvPr/>
        </p:nvSpPr>
        <p:spPr>
          <a:xfrm>
            <a:off x="8475398" y="5194300"/>
            <a:ext cx="8783902" cy="4064000"/>
          </a:xfrm>
          <a:prstGeom prst="rect">
            <a:avLst/>
          </a:prstGeom>
        </p:spPr>
        <p:txBody>
          <a:bodyPr lIns="0" tIns="0" rIns="0" bIns="0" rtlCol="0" anchor="t">
            <a:spAutoFit/>
          </a:bodyPr>
          <a:lstStyle/>
          <a:p>
            <a:pPr marL="0" lvl="0" indent="0" algn="l">
              <a:lnSpc>
                <a:spcPts val="5440"/>
              </a:lnSpc>
            </a:pPr>
            <a:r>
              <a:rPr lang="en-US" sz="3200">
                <a:solidFill>
                  <a:srgbClr val="000000"/>
                </a:solidFill>
                <a:latin typeface="Canva Sans"/>
                <a:ea typeface="Canva Sans"/>
                <a:cs typeface="Canva Sans"/>
                <a:sym typeface="Canva Sans"/>
              </a:rPr>
              <a:t>Philosophical theory about the metaphysics of mathematics. Platonism states that mathematical objects are mind independent and unaffected by space and time. We are thought to discover mathematical truths as opposed to inventing them.</a:t>
            </a:r>
          </a:p>
        </p:txBody>
      </p:sp>
      <p:sp>
        <p:nvSpPr>
          <p:cNvPr id="7" name="TextBox 7"/>
          <p:cNvSpPr txBox="1"/>
          <p:nvPr/>
        </p:nvSpPr>
        <p:spPr>
          <a:xfrm>
            <a:off x="8475398" y="4564116"/>
            <a:ext cx="5120292" cy="582697"/>
          </a:xfrm>
          <a:prstGeom prst="rect">
            <a:avLst/>
          </a:prstGeom>
        </p:spPr>
        <p:txBody>
          <a:bodyPr lIns="0" tIns="0" rIns="0" bIns="0" rtlCol="0" anchor="t">
            <a:spAutoFit/>
          </a:bodyPr>
          <a:lstStyle/>
          <a:p>
            <a:pPr algn="ctr">
              <a:lnSpc>
                <a:spcPts val="4744"/>
              </a:lnSpc>
            </a:pPr>
            <a:r>
              <a:rPr lang="en-US" sz="3350" b="1" dirty="0">
                <a:solidFill>
                  <a:srgbClr val="000000"/>
                </a:solidFill>
                <a:latin typeface="Canva Sans Bold"/>
                <a:ea typeface="Canva Sans Bold"/>
                <a:cs typeface="Canva Sans Bold"/>
                <a:sym typeface="Canva Sans Bold"/>
              </a:rPr>
              <a:t>Mathematical Platonism</a:t>
            </a:r>
          </a:p>
        </p:txBody>
      </p:sp>
      <p:pic>
        <p:nvPicPr>
          <p:cNvPr id="9" name="platonism">
            <a:hlinkClick r:id="" action="ppaction://media"/>
            <a:extLst>
              <a:ext uri="{FF2B5EF4-FFF2-40B4-BE49-F238E27FC236}">
                <a16:creationId xmlns:a16="http://schemas.microsoft.com/office/drawing/2014/main" id="{D3787505-C66A-07E6-A3C9-F709186092B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31875" y="7354661"/>
            <a:ext cx="730250" cy="730250"/>
          </a:xfrm>
          <a:prstGeom prst="rect">
            <a:avLst/>
          </a:prstGeom>
          <a:ln>
            <a:noFill/>
          </a:ln>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p:cTn id="23" fill="hold" display="0">
                  <p:stCondLst>
                    <p:cond delay="indefinite"/>
                  </p:stCondLst>
                  <p:endCondLst>
                    <p:cond evt="onStopAudio" delay="0">
                      <p:tgtEl>
                        <p:sldTgt/>
                      </p:tgtEl>
                    </p:cond>
                  </p:endCondLst>
                </p:cTn>
                <p:tgtEl>
                  <p:spTgt spid="9"/>
                </p:tgtEl>
              </p:cMediaNode>
            </p:audio>
          </p:childTnLst>
        </p:cTn>
      </p:par>
    </p:tnLst>
    <p:bldLst>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704643"/>
            <a:ext cx="18288049" cy="9525"/>
          </a:xfrm>
          <a:prstGeom prst="line">
            <a:avLst/>
          </a:prstGeom>
          <a:ln w="19050" cap="flat">
            <a:solidFill>
              <a:srgbClr val="000000"/>
            </a:solidFill>
            <a:prstDash val="solid"/>
            <a:headEnd type="none" w="sm" len="sm"/>
            <a:tailEnd type="none" w="sm" len="sm"/>
          </a:ln>
        </p:spPr>
      </p:sp>
      <p:sp>
        <p:nvSpPr>
          <p:cNvPr id="3" name="AutoShape 3"/>
          <p:cNvSpPr/>
          <p:nvPr/>
        </p:nvSpPr>
        <p:spPr>
          <a:xfrm flipV="1">
            <a:off x="7521575" y="0"/>
            <a:ext cx="0" cy="10395005"/>
          </a:xfrm>
          <a:prstGeom prst="line">
            <a:avLst/>
          </a:prstGeom>
          <a:ln w="19050" cap="flat">
            <a:solidFill>
              <a:srgbClr val="000000"/>
            </a:solidFill>
            <a:prstDash val="solid"/>
            <a:headEnd type="none" w="sm" len="sm"/>
            <a:tailEnd type="none" w="sm" len="sm"/>
          </a:ln>
        </p:spPr>
      </p:sp>
      <p:sp>
        <p:nvSpPr>
          <p:cNvPr id="4" name="Freeform 4"/>
          <p:cNvSpPr/>
          <p:nvPr/>
        </p:nvSpPr>
        <p:spPr>
          <a:xfrm>
            <a:off x="13267970" y="4567814"/>
            <a:ext cx="3625372" cy="1265255"/>
          </a:xfrm>
          <a:custGeom>
            <a:avLst/>
            <a:gdLst/>
            <a:ahLst/>
            <a:cxnLst/>
            <a:rect l="l" t="t" r="r" b="b"/>
            <a:pathLst>
              <a:path w="3625372" h="1265255">
                <a:moveTo>
                  <a:pt x="0" y="0"/>
                </a:moveTo>
                <a:lnTo>
                  <a:pt x="3625372" y="0"/>
                </a:lnTo>
                <a:lnTo>
                  <a:pt x="3625372" y="1265255"/>
                </a:lnTo>
                <a:lnTo>
                  <a:pt x="0" y="1265255"/>
                </a:lnTo>
                <a:lnTo>
                  <a:pt x="0" y="0"/>
                </a:lnTo>
                <a:close/>
              </a:path>
            </a:pathLst>
          </a:custGeom>
          <a:blipFill>
            <a:blip r:embed="rId4"/>
            <a:stretch>
              <a:fillRect/>
            </a:stretch>
          </a:blipFill>
        </p:spPr>
      </p:sp>
      <p:sp>
        <p:nvSpPr>
          <p:cNvPr id="5" name="Freeform 5"/>
          <p:cNvSpPr/>
          <p:nvPr/>
        </p:nvSpPr>
        <p:spPr>
          <a:xfrm>
            <a:off x="8806212" y="4567814"/>
            <a:ext cx="3627971" cy="1265255"/>
          </a:xfrm>
          <a:custGeom>
            <a:avLst/>
            <a:gdLst/>
            <a:ahLst/>
            <a:cxnLst/>
            <a:rect l="l" t="t" r="r" b="b"/>
            <a:pathLst>
              <a:path w="3627971" h="1265255">
                <a:moveTo>
                  <a:pt x="0" y="0"/>
                </a:moveTo>
                <a:lnTo>
                  <a:pt x="3627971" y="0"/>
                </a:lnTo>
                <a:lnTo>
                  <a:pt x="3627971" y="1265255"/>
                </a:lnTo>
                <a:lnTo>
                  <a:pt x="0" y="1265255"/>
                </a:lnTo>
                <a:lnTo>
                  <a:pt x="0" y="0"/>
                </a:lnTo>
                <a:close/>
              </a:path>
            </a:pathLst>
          </a:custGeom>
          <a:blipFill>
            <a:blip r:embed="rId5"/>
            <a:stretch>
              <a:fillRect/>
            </a:stretch>
          </a:blipFill>
        </p:spPr>
      </p:sp>
      <p:sp>
        <p:nvSpPr>
          <p:cNvPr id="6" name="TextBox 6"/>
          <p:cNvSpPr txBox="1"/>
          <p:nvPr/>
        </p:nvSpPr>
        <p:spPr>
          <a:xfrm>
            <a:off x="9027758" y="6149527"/>
            <a:ext cx="8480425" cy="835025"/>
          </a:xfrm>
          <a:prstGeom prst="rect">
            <a:avLst/>
          </a:prstGeom>
        </p:spPr>
        <p:txBody>
          <a:bodyPr lIns="0" tIns="0" rIns="0" bIns="0" rtlCol="0" anchor="t">
            <a:spAutoFit/>
          </a:bodyPr>
          <a:lstStyle/>
          <a:p>
            <a:pPr marL="0" lvl="0" indent="0" algn="l">
              <a:lnSpc>
                <a:spcPts val="2199"/>
              </a:lnSpc>
              <a:spcBef>
                <a:spcPct val="0"/>
              </a:spcBef>
            </a:pPr>
            <a:r>
              <a:rPr lang="en-US" sz="1999" u="none" strike="noStrike">
                <a:solidFill>
                  <a:srgbClr val="000000"/>
                </a:solidFill>
                <a:latin typeface="Canva Sans"/>
                <a:ea typeface="Canva Sans"/>
                <a:cs typeface="Canva Sans"/>
                <a:sym typeface="Canva Sans"/>
              </a:rPr>
              <a:t>Benacerraf therefore concludes that numbers cannot be unique abstract objects, instead we should view them as positions within the infinite progression.</a:t>
            </a:r>
          </a:p>
        </p:txBody>
      </p:sp>
      <p:sp>
        <p:nvSpPr>
          <p:cNvPr id="7" name="TextBox 7"/>
          <p:cNvSpPr txBox="1"/>
          <p:nvPr/>
        </p:nvSpPr>
        <p:spPr>
          <a:xfrm>
            <a:off x="9027758" y="2362990"/>
            <a:ext cx="8480425" cy="1663700"/>
          </a:xfrm>
          <a:prstGeom prst="rect">
            <a:avLst/>
          </a:prstGeom>
        </p:spPr>
        <p:txBody>
          <a:bodyPr lIns="0" tIns="0" rIns="0" bIns="0" rtlCol="0" anchor="t">
            <a:spAutoFit/>
          </a:bodyPr>
          <a:lstStyle/>
          <a:p>
            <a:pPr marL="0" lvl="0" indent="0" algn="l">
              <a:lnSpc>
                <a:spcPts val="2199"/>
              </a:lnSpc>
              <a:spcBef>
                <a:spcPct val="0"/>
              </a:spcBef>
            </a:pPr>
            <a:r>
              <a:rPr lang="en-US" sz="1999" u="none" strike="noStrike">
                <a:solidFill>
                  <a:srgbClr val="000000"/>
                </a:solidFill>
                <a:latin typeface="Canva Sans"/>
                <a:ea typeface="Canva Sans"/>
                <a:cs typeface="Canva Sans"/>
                <a:sym typeface="Canva Sans"/>
              </a:rPr>
              <a:t>In the problem of identification, Benacerraf demonstrates there are various ways of representing natural numbers with sets, for example the Zermelo method and von Neumann. Both of these offer equally adequate constructions, however there is no known method for selecting the correct one, suggesting numbers aren't defined by a specific set. </a:t>
            </a:r>
          </a:p>
        </p:txBody>
      </p:sp>
      <p:grpSp>
        <p:nvGrpSpPr>
          <p:cNvPr id="8" name="Group 8"/>
          <p:cNvGrpSpPr/>
          <p:nvPr/>
        </p:nvGrpSpPr>
        <p:grpSpPr>
          <a:xfrm>
            <a:off x="1384300" y="2358948"/>
            <a:ext cx="4958031" cy="5569105"/>
            <a:chOff x="0" y="0"/>
            <a:chExt cx="6610708" cy="7425473"/>
          </a:xfrm>
        </p:grpSpPr>
        <p:sp>
          <p:nvSpPr>
            <p:cNvPr id="9" name="TextBox 9"/>
            <p:cNvSpPr txBox="1"/>
            <p:nvPr/>
          </p:nvSpPr>
          <p:spPr>
            <a:xfrm>
              <a:off x="0" y="161925"/>
              <a:ext cx="6610708" cy="2592705"/>
            </a:xfrm>
            <a:prstGeom prst="rect">
              <a:avLst/>
            </a:prstGeom>
          </p:spPr>
          <p:txBody>
            <a:bodyPr lIns="0" tIns="0" rIns="0" bIns="0" rtlCol="0" anchor="t">
              <a:spAutoFit/>
            </a:bodyPr>
            <a:lstStyle/>
            <a:p>
              <a:pPr marL="0" lvl="0" indent="0" algn="l">
                <a:lnSpc>
                  <a:spcPts val="4927"/>
                </a:lnSpc>
                <a:spcBef>
                  <a:spcPct val="0"/>
                </a:spcBef>
              </a:pPr>
              <a:r>
                <a:rPr lang="en-US" sz="5475" b="1" u="none" strike="noStrike">
                  <a:solidFill>
                    <a:srgbClr val="0097B2"/>
                  </a:solidFill>
                  <a:latin typeface="Canva Sans Bold"/>
                  <a:ea typeface="Canva Sans Bold"/>
                  <a:cs typeface="Canva Sans Bold"/>
                  <a:sym typeface="Canva Sans Bold"/>
                </a:rPr>
                <a:t>The Identification Problem:</a:t>
              </a:r>
            </a:p>
          </p:txBody>
        </p:sp>
        <p:sp>
          <p:nvSpPr>
            <p:cNvPr id="10" name="TextBox 10"/>
            <p:cNvSpPr txBox="1"/>
            <p:nvPr/>
          </p:nvSpPr>
          <p:spPr>
            <a:xfrm>
              <a:off x="0" y="3422842"/>
              <a:ext cx="6610708" cy="4002631"/>
            </a:xfrm>
            <a:prstGeom prst="rect">
              <a:avLst/>
            </a:prstGeom>
          </p:spPr>
          <p:txBody>
            <a:bodyPr lIns="0" tIns="0" rIns="0" bIns="0" rtlCol="0" anchor="t">
              <a:spAutoFit/>
            </a:bodyPr>
            <a:lstStyle/>
            <a:p>
              <a:pPr marL="0" lvl="0" indent="0" algn="l">
                <a:lnSpc>
                  <a:spcPts val="2344"/>
                </a:lnSpc>
                <a:spcBef>
                  <a:spcPct val="0"/>
                </a:spcBef>
              </a:pPr>
              <a:r>
                <a:rPr lang="en-US" sz="2604" u="none" strike="noStrike">
                  <a:solidFill>
                    <a:srgbClr val="000000"/>
                  </a:solidFill>
                  <a:latin typeface="Canva Sans"/>
                  <a:ea typeface="Canva Sans"/>
                  <a:cs typeface="Canva Sans"/>
                  <a:sym typeface="Canva Sans"/>
                </a:rPr>
                <a:t>Paul Benacerraf argued against mathematical Platonism in his works "What Numbers Could Not Be" and "Mathematical Truth", and in favour of structuralism - the view that mathematical objects do not hold intrinsic value, but are defined by their relationships within an abstract structure.</a:t>
              </a:r>
            </a:p>
          </p:txBody>
        </p:sp>
      </p:grpSp>
      <p:sp>
        <p:nvSpPr>
          <p:cNvPr id="11" name="TextBox 11"/>
          <p:cNvSpPr txBox="1"/>
          <p:nvPr/>
        </p:nvSpPr>
        <p:spPr>
          <a:xfrm>
            <a:off x="9027758" y="4241831"/>
            <a:ext cx="2952395" cy="594906"/>
          </a:xfrm>
          <a:prstGeom prst="rect">
            <a:avLst/>
          </a:prstGeom>
        </p:spPr>
        <p:txBody>
          <a:bodyPr lIns="0" tIns="0" rIns="0" bIns="0" rtlCol="0" anchor="t">
            <a:spAutoFit/>
          </a:bodyPr>
          <a:lstStyle/>
          <a:p>
            <a:pPr algn="ctr">
              <a:lnSpc>
                <a:spcPts val="2426"/>
              </a:lnSpc>
            </a:pPr>
            <a:r>
              <a:rPr lang="en-US" sz="1700" dirty="0">
                <a:solidFill>
                  <a:srgbClr val="000000"/>
                </a:solidFill>
                <a:latin typeface="Canva Sans"/>
                <a:ea typeface="Canva Sans"/>
                <a:cs typeface="Canva Sans"/>
                <a:sym typeface="Canva Sans"/>
              </a:rPr>
              <a:t>von Neumann construction:</a:t>
            </a:r>
          </a:p>
          <a:p>
            <a:pPr algn="ctr">
              <a:lnSpc>
                <a:spcPts val="2426"/>
              </a:lnSpc>
            </a:pPr>
            <a:endParaRPr lang="en-US" sz="1700" dirty="0">
              <a:solidFill>
                <a:srgbClr val="000000"/>
              </a:solidFill>
              <a:latin typeface="Canva Sans"/>
              <a:ea typeface="Canva Sans"/>
              <a:cs typeface="Canva Sans"/>
            </a:endParaRPr>
          </a:p>
        </p:txBody>
      </p:sp>
      <p:sp>
        <p:nvSpPr>
          <p:cNvPr id="12" name="TextBox 12"/>
          <p:cNvSpPr txBox="1"/>
          <p:nvPr/>
        </p:nvSpPr>
        <p:spPr>
          <a:xfrm>
            <a:off x="13475578" y="4241831"/>
            <a:ext cx="2348018" cy="594906"/>
          </a:xfrm>
          <a:prstGeom prst="rect">
            <a:avLst/>
          </a:prstGeom>
        </p:spPr>
        <p:txBody>
          <a:bodyPr lIns="0" tIns="0" rIns="0" bIns="0" rtlCol="0" anchor="t">
            <a:spAutoFit/>
          </a:bodyPr>
          <a:lstStyle/>
          <a:p>
            <a:pPr algn="ctr">
              <a:lnSpc>
                <a:spcPts val="2426"/>
              </a:lnSpc>
            </a:pPr>
            <a:r>
              <a:rPr lang="en-US" sz="1700" err="1">
                <a:solidFill>
                  <a:srgbClr val="000000"/>
                </a:solidFill>
                <a:latin typeface="Canva Sans"/>
                <a:ea typeface="Canva Sans"/>
                <a:cs typeface="Canva Sans"/>
                <a:sym typeface="Canva Sans"/>
              </a:rPr>
              <a:t>Zermelo</a:t>
            </a:r>
            <a:r>
              <a:rPr lang="en-US" sz="1700" dirty="0">
                <a:solidFill>
                  <a:srgbClr val="000000"/>
                </a:solidFill>
                <a:latin typeface="Canva Sans"/>
                <a:ea typeface="Canva Sans"/>
                <a:cs typeface="Canva Sans"/>
                <a:sym typeface="Canva Sans"/>
              </a:rPr>
              <a:t> construction:</a:t>
            </a:r>
          </a:p>
          <a:p>
            <a:pPr algn="ctr">
              <a:lnSpc>
                <a:spcPts val="2426"/>
              </a:lnSpc>
            </a:pPr>
            <a:endParaRPr lang="en-US" sz="1700" dirty="0">
              <a:solidFill>
                <a:srgbClr val="000000"/>
              </a:solidFill>
              <a:latin typeface="Canva Sans"/>
              <a:ea typeface="Canva Sans"/>
              <a:cs typeface="Canva Sans"/>
            </a:endParaRPr>
          </a:p>
        </p:txBody>
      </p:sp>
      <p:pic>
        <p:nvPicPr>
          <p:cNvPr id="13" name="identification problem">
            <a:hlinkClick r:id="" action="ppaction://media"/>
            <a:extLst>
              <a:ext uri="{FF2B5EF4-FFF2-40B4-BE49-F238E27FC236}">
                <a16:creationId xmlns:a16="http://schemas.microsoft.com/office/drawing/2014/main" id="{E664F878-16C4-9EDC-B08C-BC90C956962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023803" y="7200447"/>
            <a:ext cx="730250" cy="730250"/>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900" decel="100000" fill="hold"/>
                                        <p:tgtEl>
                                          <p:spTgt spid="8"/>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900" decel="100000" fill="hold"/>
                                        <p:tgtEl>
                                          <p:spTgt spid="7"/>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900" decel="100000" fill="hold"/>
                                        <p:tgtEl>
                                          <p:spTgt spid="5"/>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900" decel="100000" fill="hold"/>
                                        <p:tgtEl>
                                          <p:spTgt spid="4"/>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par>
                                <p:cTn id="29" presetID="37"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900" decel="100000" fill="hold"/>
                                        <p:tgtEl>
                                          <p:spTgt spid="11"/>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1000"/>
                                        <p:tgtEl>
                                          <p:spTgt spid="12"/>
                                        </p:tgtEl>
                                      </p:cBhvr>
                                    </p:animEffect>
                                    <p:anim calcmode="lin" valueType="num">
                                      <p:cBhvr>
                                        <p:cTn id="38" dur="1000" fill="hold"/>
                                        <p:tgtEl>
                                          <p:spTgt spid="12"/>
                                        </p:tgtEl>
                                        <p:attrNameLst>
                                          <p:attrName>ppt_x</p:attrName>
                                        </p:attrNameLst>
                                      </p:cBhvr>
                                      <p:tavLst>
                                        <p:tav tm="0">
                                          <p:val>
                                            <p:strVal val="#ppt_x"/>
                                          </p:val>
                                        </p:tav>
                                        <p:tav tm="100000">
                                          <p:val>
                                            <p:strVal val="#ppt_x"/>
                                          </p:val>
                                        </p:tav>
                                      </p:tavLst>
                                    </p:anim>
                                    <p:anim calcmode="lin" valueType="num">
                                      <p:cBhvr>
                                        <p:cTn id="39" dur="900" decel="100000" fill="hold"/>
                                        <p:tgtEl>
                                          <p:spTgt spid="12"/>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par>
                                <p:cTn id="41" presetID="37"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1000"/>
                                        <p:tgtEl>
                                          <p:spTgt spid="6"/>
                                        </p:tgtEl>
                                      </p:cBhvr>
                                    </p:animEffect>
                                    <p:anim calcmode="lin" valueType="num">
                                      <p:cBhvr>
                                        <p:cTn id="44" dur="1000" fill="hold"/>
                                        <p:tgtEl>
                                          <p:spTgt spid="6"/>
                                        </p:tgtEl>
                                        <p:attrNameLst>
                                          <p:attrName>ppt_x</p:attrName>
                                        </p:attrNameLst>
                                      </p:cBhvr>
                                      <p:tavLst>
                                        <p:tav tm="0">
                                          <p:val>
                                            <p:strVal val="#ppt_x"/>
                                          </p:val>
                                        </p:tav>
                                        <p:tav tm="100000">
                                          <p:val>
                                            <p:strVal val="#ppt_x"/>
                                          </p:val>
                                        </p:tav>
                                      </p:tavLst>
                                    </p:anim>
                                    <p:anim calcmode="lin" valueType="num">
                                      <p:cBhvr>
                                        <p:cTn id="45" dur="900" decel="100000" fill="hold"/>
                                        <p:tgtEl>
                                          <p:spTgt spid="6"/>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p:cTn id="53" fill="hold" display="0">
                  <p:stCondLst>
                    <p:cond delay="indefinite"/>
                  </p:stCondLst>
                  <p:endCondLst>
                    <p:cond evt="onStopAudio" delay="0">
                      <p:tgtEl>
                        <p:sldTgt/>
                      </p:tgtEl>
                    </p:cond>
                  </p:endCondLst>
                </p:cTn>
                <p:tgtEl>
                  <p:spTgt spid="13"/>
                </p:tgtEl>
              </p:cMediaNode>
            </p:audio>
          </p:childTnLst>
        </p:cTn>
      </p:par>
    </p:tnLst>
    <p:bldLst>
      <p:bldP spid="6" grpId="0"/>
      <p:bldP spid="7" grpId="0"/>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671305" y="1416427"/>
            <a:ext cx="10605823" cy="2503170"/>
          </a:xfrm>
          <a:prstGeom prst="rect">
            <a:avLst/>
          </a:prstGeom>
        </p:spPr>
        <p:txBody>
          <a:bodyPr lIns="0" tIns="0" rIns="0" bIns="0" rtlCol="0" anchor="t">
            <a:spAutoFit/>
          </a:bodyPr>
          <a:lstStyle/>
          <a:p>
            <a:pPr marL="0" lvl="0" indent="0" algn="l">
              <a:lnSpc>
                <a:spcPts val="10080"/>
              </a:lnSpc>
              <a:spcBef>
                <a:spcPct val="0"/>
              </a:spcBef>
            </a:pPr>
            <a:r>
              <a:rPr lang="en-US" sz="7200" b="1">
                <a:solidFill>
                  <a:srgbClr val="000000"/>
                </a:solidFill>
                <a:latin typeface="Canva Sans Bold"/>
                <a:ea typeface="Canva Sans Bold"/>
                <a:cs typeface="Canva Sans Bold"/>
                <a:sym typeface="Canva Sans Bold"/>
              </a:rPr>
              <a:t>The Epistemological Objection</a:t>
            </a:r>
          </a:p>
        </p:txBody>
      </p:sp>
      <p:sp>
        <p:nvSpPr>
          <p:cNvPr id="3" name="TextBox 3"/>
          <p:cNvSpPr txBox="1"/>
          <p:nvPr/>
        </p:nvSpPr>
        <p:spPr>
          <a:xfrm>
            <a:off x="1671305" y="4701003"/>
            <a:ext cx="10605823" cy="3615326"/>
          </a:xfrm>
          <a:prstGeom prst="rect">
            <a:avLst/>
          </a:prstGeom>
        </p:spPr>
        <p:txBody>
          <a:bodyPr lIns="0" tIns="0" rIns="0" bIns="0" rtlCol="0" anchor="t">
            <a:spAutoFit/>
          </a:bodyPr>
          <a:lstStyle/>
          <a:p>
            <a:pPr marL="0" lvl="0" indent="0" algn="l">
              <a:lnSpc>
                <a:spcPts val="2855"/>
              </a:lnSpc>
              <a:spcBef>
                <a:spcPct val="0"/>
              </a:spcBef>
            </a:pPr>
            <a:r>
              <a:rPr lang="en-US" sz="2039">
                <a:solidFill>
                  <a:srgbClr val="000000"/>
                </a:solidFill>
                <a:latin typeface="Canva Sans"/>
                <a:ea typeface="Canva Sans"/>
                <a:cs typeface="Canva Sans"/>
                <a:sym typeface="Canva Sans"/>
              </a:rPr>
              <a:t>Benacerraf's Epistemological Objection claims that there must be a causal connection between the knowledge and its knower.</a:t>
            </a:r>
          </a:p>
          <a:p>
            <a:pPr marL="0" lvl="0" indent="0" algn="l">
              <a:lnSpc>
                <a:spcPts val="2855"/>
              </a:lnSpc>
              <a:spcBef>
                <a:spcPct val="0"/>
              </a:spcBef>
            </a:pPr>
            <a:endParaRPr lang="en-US" sz="2039">
              <a:solidFill>
                <a:srgbClr val="000000"/>
              </a:solidFill>
              <a:latin typeface="Canva Sans"/>
              <a:ea typeface="Canva Sans"/>
              <a:cs typeface="Canva Sans"/>
              <a:sym typeface="Canva Sans"/>
            </a:endParaRPr>
          </a:p>
          <a:p>
            <a:pPr marL="0" lvl="0" indent="0" algn="l">
              <a:lnSpc>
                <a:spcPts val="2855"/>
              </a:lnSpc>
              <a:spcBef>
                <a:spcPct val="0"/>
              </a:spcBef>
            </a:pPr>
            <a:r>
              <a:rPr lang="en-US" sz="2039">
                <a:solidFill>
                  <a:srgbClr val="000000"/>
                </a:solidFill>
                <a:latin typeface="Canva Sans"/>
                <a:ea typeface="Canva Sans"/>
                <a:cs typeface="Canva Sans"/>
                <a:sym typeface="Canva Sans"/>
              </a:rPr>
              <a:t>However there is no direct or indirect link between abstract mathematical objects and the human mind, hence, if Platonism is assumed to be true, we do not have reliable mathematical knowledge.</a:t>
            </a:r>
          </a:p>
          <a:p>
            <a:pPr marL="0" lvl="0" indent="0" algn="l">
              <a:lnSpc>
                <a:spcPts val="2855"/>
              </a:lnSpc>
              <a:spcBef>
                <a:spcPct val="0"/>
              </a:spcBef>
            </a:pPr>
            <a:endParaRPr lang="en-US" sz="2039">
              <a:solidFill>
                <a:srgbClr val="000000"/>
              </a:solidFill>
              <a:latin typeface="Canva Sans"/>
              <a:ea typeface="Canva Sans"/>
              <a:cs typeface="Canva Sans"/>
              <a:sym typeface="Canva Sans"/>
            </a:endParaRPr>
          </a:p>
          <a:p>
            <a:pPr marL="0" lvl="0" indent="0" algn="l">
              <a:lnSpc>
                <a:spcPts val="2855"/>
              </a:lnSpc>
              <a:spcBef>
                <a:spcPct val="0"/>
              </a:spcBef>
            </a:pPr>
            <a:r>
              <a:rPr lang="en-US" sz="2039">
                <a:solidFill>
                  <a:srgbClr val="000000"/>
                </a:solidFill>
                <a:latin typeface="Canva Sans"/>
                <a:ea typeface="Canva Sans"/>
                <a:cs typeface="Canva Sans"/>
                <a:sym typeface="Canva Sans"/>
              </a:rPr>
              <a:t>Some may reject the epistemological problem by denying the causal theory of knowledge, one may argue that the human mind can percieve these abstract mathematical objects with intuition, as proposed by Gödel.</a:t>
            </a:r>
          </a:p>
        </p:txBody>
      </p:sp>
      <p:grpSp>
        <p:nvGrpSpPr>
          <p:cNvPr id="4" name="Group 4"/>
          <p:cNvGrpSpPr/>
          <p:nvPr/>
        </p:nvGrpSpPr>
        <p:grpSpPr>
          <a:xfrm>
            <a:off x="14533478" y="6532478"/>
            <a:ext cx="3754522" cy="3754522"/>
            <a:chOff x="0" y="0"/>
            <a:chExt cx="5006029" cy="5006029"/>
          </a:xfrm>
        </p:grpSpPr>
        <p:grpSp>
          <p:nvGrpSpPr>
            <p:cNvPr id="5" name="Group 5"/>
            <p:cNvGrpSpPr/>
            <p:nvPr/>
          </p:nvGrpSpPr>
          <p:grpSpPr>
            <a:xfrm>
              <a:off x="2503014" y="2503014"/>
              <a:ext cx="1251507" cy="1251507"/>
              <a:chOff x="0" y="0"/>
              <a:chExt cx="1913890" cy="1913890"/>
            </a:xfrm>
          </p:grpSpPr>
          <p:sp>
            <p:nvSpPr>
              <p:cNvPr id="6" name="Freeform 6"/>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97B2"/>
              </a:solidFill>
            </p:spPr>
          </p:sp>
        </p:grpSp>
        <p:grpSp>
          <p:nvGrpSpPr>
            <p:cNvPr id="7" name="Group 7"/>
            <p:cNvGrpSpPr/>
            <p:nvPr/>
          </p:nvGrpSpPr>
          <p:grpSpPr>
            <a:xfrm>
              <a:off x="2503014" y="1251507"/>
              <a:ext cx="1251507" cy="1251507"/>
              <a:chOff x="0" y="0"/>
              <a:chExt cx="1913890" cy="1913890"/>
            </a:xfrm>
          </p:grpSpPr>
          <p:sp>
            <p:nvSpPr>
              <p:cNvPr id="8" name="Freeform 8"/>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97B2"/>
              </a:solidFill>
            </p:spPr>
          </p:sp>
        </p:grpSp>
        <p:grpSp>
          <p:nvGrpSpPr>
            <p:cNvPr id="9" name="Group 9"/>
            <p:cNvGrpSpPr/>
            <p:nvPr/>
          </p:nvGrpSpPr>
          <p:grpSpPr>
            <a:xfrm>
              <a:off x="1251507" y="2503014"/>
              <a:ext cx="1251507" cy="1251507"/>
              <a:chOff x="0" y="0"/>
              <a:chExt cx="1913890" cy="1913890"/>
            </a:xfrm>
          </p:grpSpPr>
          <p:sp>
            <p:nvSpPr>
              <p:cNvPr id="10" name="Freeform 10"/>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97B2"/>
              </a:solidFill>
            </p:spPr>
          </p:sp>
        </p:grpSp>
        <p:grpSp>
          <p:nvGrpSpPr>
            <p:cNvPr id="11" name="Group 11"/>
            <p:cNvGrpSpPr/>
            <p:nvPr/>
          </p:nvGrpSpPr>
          <p:grpSpPr>
            <a:xfrm>
              <a:off x="3754522" y="3754522"/>
              <a:ext cx="1251507" cy="1251507"/>
              <a:chOff x="0" y="0"/>
              <a:chExt cx="1913890" cy="1913890"/>
            </a:xfrm>
          </p:grpSpPr>
          <p:sp>
            <p:nvSpPr>
              <p:cNvPr id="12" name="Freeform 12"/>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97B2"/>
              </a:solidFill>
            </p:spPr>
          </p:sp>
        </p:grpSp>
        <p:grpSp>
          <p:nvGrpSpPr>
            <p:cNvPr id="13" name="Group 13"/>
            <p:cNvGrpSpPr/>
            <p:nvPr/>
          </p:nvGrpSpPr>
          <p:grpSpPr>
            <a:xfrm>
              <a:off x="3754522" y="2503014"/>
              <a:ext cx="1251507" cy="1251507"/>
              <a:chOff x="0" y="0"/>
              <a:chExt cx="1913890" cy="1913890"/>
            </a:xfrm>
          </p:grpSpPr>
          <p:sp>
            <p:nvSpPr>
              <p:cNvPr id="14" name="Freeform 14"/>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97B2"/>
              </a:solidFill>
            </p:spPr>
          </p:sp>
        </p:grpSp>
        <p:grpSp>
          <p:nvGrpSpPr>
            <p:cNvPr id="15" name="Group 15"/>
            <p:cNvGrpSpPr/>
            <p:nvPr/>
          </p:nvGrpSpPr>
          <p:grpSpPr>
            <a:xfrm>
              <a:off x="2503014" y="3754522"/>
              <a:ext cx="1251507" cy="1251507"/>
              <a:chOff x="0" y="0"/>
              <a:chExt cx="1913890" cy="1913890"/>
            </a:xfrm>
          </p:grpSpPr>
          <p:sp>
            <p:nvSpPr>
              <p:cNvPr id="16" name="Freeform 16"/>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97B2"/>
              </a:solidFill>
            </p:spPr>
          </p:sp>
        </p:grpSp>
        <p:grpSp>
          <p:nvGrpSpPr>
            <p:cNvPr id="17" name="Group 17"/>
            <p:cNvGrpSpPr/>
            <p:nvPr/>
          </p:nvGrpSpPr>
          <p:grpSpPr>
            <a:xfrm>
              <a:off x="3754522" y="1251507"/>
              <a:ext cx="1251507" cy="1251507"/>
              <a:chOff x="0" y="0"/>
              <a:chExt cx="1913890" cy="1913890"/>
            </a:xfrm>
          </p:grpSpPr>
          <p:sp>
            <p:nvSpPr>
              <p:cNvPr id="18" name="Freeform 18"/>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97B2"/>
              </a:solidFill>
            </p:spPr>
          </p:sp>
        </p:grpSp>
        <p:grpSp>
          <p:nvGrpSpPr>
            <p:cNvPr id="19" name="Group 19"/>
            <p:cNvGrpSpPr/>
            <p:nvPr/>
          </p:nvGrpSpPr>
          <p:grpSpPr>
            <a:xfrm>
              <a:off x="1251507" y="3754522"/>
              <a:ext cx="1251507" cy="1251507"/>
              <a:chOff x="0" y="0"/>
              <a:chExt cx="1913890" cy="1913890"/>
            </a:xfrm>
          </p:grpSpPr>
          <p:sp>
            <p:nvSpPr>
              <p:cNvPr id="20" name="Freeform 20"/>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97B2"/>
              </a:solidFill>
            </p:spPr>
          </p:sp>
        </p:grpSp>
        <p:grpSp>
          <p:nvGrpSpPr>
            <p:cNvPr id="21" name="Group 21"/>
            <p:cNvGrpSpPr/>
            <p:nvPr/>
          </p:nvGrpSpPr>
          <p:grpSpPr>
            <a:xfrm>
              <a:off x="3754522" y="0"/>
              <a:ext cx="1251507" cy="1251507"/>
              <a:chOff x="0" y="0"/>
              <a:chExt cx="1913890" cy="1913890"/>
            </a:xfrm>
          </p:grpSpPr>
          <p:sp>
            <p:nvSpPr>
              <p:cNvPr id="22" name="Freeform 22"/>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97B2"/>
              </a:solidFill>
            </p:spPr>
          </p:sp>
        </p:grpSp>
        <p:grpSp>
          <p:nvGrpSpPr>
            <p:cNvPr id="23" name="Group 23"/>
            <p:cNvGrpSpPr/>
            <p:nvPr/>
          </p:nvGrpSpPr>
          <p:grpSpPr>
            <a:xfrm>
              <a:off x="0" y="3754522"/>
              <a:ext cx="1251507" cy="1251507"/>
              <a:chOff x="0" y="0"/>
              <a:chExt cx="1913890" cy="1913890"/>
            </a:xfrm>
          </p:grpSpPr>
          <p:sp>
            <p:nvSpPr>
              <p:cNvPr id="24" name="Freeform 24"/>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97B2"/>
              </a:solidFill>
            </p:spPr>
          </p:sp>
        </p:grpSp>
        <p:grpSp>
          <p:nvGrpSpPr>
            <p:cNvPr id="25" name="Group 25"/>
            <p:cNvGrpSpPr/>
            <p:nvPr/>
          </p:nvGrpSpPr>
          <p:grpSpPr>
            <a:xfrm>
              <a:off x="2503014" y="1251507"/>
              <a:ext cx="1251507" cy="1251507"/>
              <a:chOff x="0" y="0"/>
              <a:chExt cx="1913890" cy="1913890"/>
            </a:xfrm>
          </p:grpSpPr>
          <p:sp>
            <p:nvSpPr>
              <p:cNvPr id="26" name="Freeform 26"/>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0000">
                  <a:alpha val="0"/>
                </a:srgbClr>
              </a:solidFill>
            </p:spPr>
          </p:sp>
        </p:grpSp>
      </p:grpSp>
      <p:pic>
        <p:nvPicPr>
          <p:cNvPr id="27" name="epistemological">
            <a:hlinkClick r:id="" action="ppaction://media"/>
            <a:extLst>
              <a:ext uri="{FF2B5EF4-FFF2-40B4-BE49-F238E27FC236}">
                <a16:creationId xmlns:a16="http://schemas.microsoft.com/office/drawing/2014/main" id="{3704A414-68BE-1ADE-48B6-95A5AFA370B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2271375" y="3916589"/>
            <a:ext cx="730250" cy="730250"/>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up)">
                                      <p:cBhvr>
                                        <p:cTn id="8" dur="500"/>
                                        <p:tgtEl>
                                          <p:spTgt spid="4"/>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ppt_y</p:attrName>
                                        </p:attrNameLst>
                                      </p:cBhvr>
                                      <p:tavLst>
                                        <p:tav tm="0">
                                          <p:val>
                                            <p:strVal val="#ppt_y+#ppt_h*1.125000"/>
                                          </p:val>
                                        </p:tav>
                                        <p:tav tm="100000">
                                          <p:val>
                                            <p:strVal val="#ppt_y"/>
                                          </p:val>
                                        </p:tav>
                                      </p:tavLst>
                                    </p:anim>
                                    <p:animEffect transition="in" filter="wipe(up)">
                                      <p:cBhvr>
                                        <p:cTn id="12" dur="500"/>
                                        <p:tgtEl>
                                          <p:spTgt spid="3"/>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p:tgtEl>
                                          <p:spTgt spid="2"/>
                                        </p:tgtEl>
                                        <p:attrNameLst>
                                          <p:attrName>ppt_y</p:attrName>
                                        </p:attrNameLst>
                                      </p:cBhvr>
                                      <p:tavLst>
                                        <p:tav tm="0">
                                          <p:val>
                                            <p:strVal val="#ppt_y+#ppt_h*1.125000"/>
                                          </p:val>
                                        </p:tav>
                                        <p:tav tm="100000">
                                          <p:val>
                                            <p:strVal val="#ppt_y"/>
                                          </p:val>
                                        </p:tav>
                                      </p:tavLst>
                                    </p:anim>
                                    <p:animEffect transition="in" filter="wipe(up)">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ppt_x"/>
                                          </p:val>
                                        </p:tav>
                                        <p:tav tm="100000">
                                          <p:val>
                                            <p:strVal val="#ppt_x"/>
                                          </p:val>
                                        </p:tav>
                                      </p:tavLst>
                                    </p:anim>
                                    <p:anim calcmode="lin" valueType="num">
                                      <p:cBhvr additive="base">
                                        <p:cTn id="2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p:cTn id="23" fill="hold" display="0">
                  <p:stCondLst>
                    <p:cond delay="indefinite"/>
                  </p:stCondLst>
                  <p:endCondLst>
                    <p:cond evt="onStopAudio" delay="0">
                      <p:tgtEl>
                        <p:sldTgt/>
                      </p:tgtEl>
                    </p:cond>
                  </p:endCondLst>
                </p:cTn>
                <p:tgtEl>
                  <p:spTgt spid="27"/>
                </p:tgtEl>
              </p:cMediaNode>
            </p:audio>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38924" y="4973219"/>
            <a:ext cx="3806480" cy="2404606"/>
          </a:xfrm>
          <a:custGeom>
            <a:avLst/>
            <a:gdLst/>
            <a:ahLst/>
            <a:cxnLst/>
            <a:rect l="l" t="t" r="r" b="b"/>
            <a:pathLst>
              <a:path w="4828759" h="3017974">
                <a:moveTo>
                  <a:pt x="0" y="0"/>
                </a:moveTo>
                <a:lnTo>
                  <a:pt x="4828759" y="0"/>
                </a:lnTo>
                <a:lnTo>
                  <a:pt x="4828759" y="3017974"/>
                </a:lnTo>
                <a:lnTo>
                  <a:pt x="0" y="3017974"/>
                </a:lnTo>
                <a:lnTo>
                  <a:pt x="0" y="0"/>
                </a:lnTo>
                <a:close/>
              </a:path>
            </a:pathLst>
          </a:custGeom>
          <a:blipFill>
            <a:blip r:embed="rId4"/>
            <a:stretch>
              <a:fillRect/>
            </a:stretch>
          </a:blipFill>
        </p:spPr>
      </p:sp>
      <p:sp>
        <p:nvSpPr>
          <p:cNvPr id="3" name="TextBox 3"/>
          <p:cNvSpPr txBox="1"/>
          <p:nvPr/>
        </p:nvSpPr>
        <p:spPr>
          <a:xfrm>
            <a:off x="1308113" y="1143000"/>
            <a:ext cx="13423825" cy="1181102"/>
          </a:xfrm>
          <a:prstGeom prst="rect">
            <a:avLst/>
          </a:prstGeom>
        </p:spPr>
        <p:txBody>
          <a:bodyPr lIns="0" tIns="0" rIns="0" bIns="0" rtlCol="0" anchor="t">
            <a:spAutoFit/>
          </a:bodyPr>
          <a:lstStyle/>
          <a:p>
            <a:pPr marL="0" lvl="0" indent="0" algn="l">
              <a:lnSpc>
                <a:spcPts val="8925"/>
              </a:lnSpc>
            </a:pPr>
            <a:r>
              <a:rPr lang="en-US" sz="8500" b="1">
                <a:solidFill>
                  <a:srgbClr val="000000"/>
                </a:solidFill>
                <a:latin typeface="Canva Sans Bold"/>
                <a:ea typeface="Canva Sans Bold"/>
                <a:cs typeface="Canva Sans Bold"/>
                <a:sym typeface="Canva Sans Bold"/>
              </a:rPr>
              <a:t>Field's Nominalism</a:t>
            </a:r>
          </a:p>
        </p:txBody>
      </p:sp>
      <p:grpSp>
        <p:nvGrpSpPr>
          <p:cNvPr id="4" name="Group 4"/>
          <p:cNvGrpSpPr/>
          <p:nvPr/>
        </p:nvGrpSpPr>
        <p:grpSpPr>
          <a:xfrm>
            <a:off x="1308113" y="2324102"/>
            <a:ext cx="15372935" cy="2090768"/>
            <a:chOff x="0" y="0"/>
            <a:chExt cx="20497247" cy="2787691"/>
          </a:xfrm>
        </p:grpSpPr>
        <p:sp>
          <p:nvSpPr>
            <p:cNvPr id="5" name="TextBox 5"/>
            <p:cNvSpPr txBox="1"/>
            <p:nvPr/>
          </p:nvSpPr>
          <p:spPr>
            <a:xfrm>
              <a:off x="0" y="1190539"/>
              <a:ext cx="20497247" cy="1597152"/>
            </a:xfrm>
            <a:prstGeom prst="rect">
              <a:avLst/>
            </a:prstGeom>
          </p:spPr>
          <p:txBody>
            <a:bodyPr lIns="0" tIns="0" rIns="0" bIns="0" rtlCol="0" anchor="t">
              <a:spAutoFit/>
            </a:bodyPr>
            <a:lstStyle/>
            <a:p>
              <a:pPr marL="0" lvl="0" indent="0" algn="l">
                <a:lnSpc>
                  <a:spcPts val="3275"/>
                </a:lnSpc>
              </a:pPr>
              <a:r>
                <a:rPr lang="en-US" sz="2339">
                  <a:solidFill>
                    <a:srgbClr val="000000"/>
                  </a:solidFill>
                  <a:latin typeface="Canva Sans"/>
                  <a:ea typeface="Canva Sans"/>
                  <a:cs typeface="Canva Sans"/>
                  <a:sym typeface="Canva Sans"/>
                </a:rPr>
                <a:t>Supposing abstract mathematical objects exist, they are unable to influence our minds resulting in our mathematical knowledge being independent of them. Therefore, the strong correlation between our beliefs and mathematical facts would be a result of pure coincidence.</a:t>
              </a:r>
            </a:p>
          </p:txBody>
        </p:sp>
        <p:sp>
          <p:nvSpPr>
            <p:cNvPr id="6" name="TextBox 6"/>
            <p:cNvSpPr txBox="1"/>
            <p:nvPr/>
          </p:nvSpPr>
          <p:spPr>
            <a:xfrm>
              <a:off x="47826" y="-57150"/>
              <a:ext cx="20449421" cy="603293"/>
            </a:xfrm>
            <a:prstGeom prst="rect">
              <a:avLst/>
            </a:prstGeom>
          </p:spPr>
          <p:txBody>
            <a:bodyPr lIns="0" tIns="0" rIns="0" bIns="0" rtlCol="0" anchor="t">
              <a:spAutoFit/>
            </a:bodyPr>
            <a:lstStyle/>
            <a:p>
              <a:pPr marL="0" lvl="0" indent="0" algn="l">
                <a:lnSpc>
                  <a:spcPts val="3762"/>
                </a:lnSpc>
              </a:pPr>
              <a:r>
                <a:rPr lang="en-US" sz="2687" b="1">
                  <a:solidFill>
                    <a:srgbClr val="0097B2"/>
                  </a:solidFill>
                  <a:latin typeface="Canva Sans Bold"/>
                  <a:ea typeface="Canva Sans Bold"/>
                  <a:cs typeface="Canva Sans Bold"/>
                  <a:sym typeface="Canva Sans Bold"/>
                </a:rPr>
                <a:t>Hartry Field presented the reliability challenge in his work "Science Without Numbers":</a:t>
              </a:r>
            </a:p>
          </p:txBody>
        </p:sp>
      </p:grpSp>
      <p:sp>
        <p:nvSpPr>
          <p:cNvPr id="7" name="TextBox 7"/>
          <p:cNvSpPr txBox="1"/>
          <p:nvPr/>
        </p:nvSpPr>
        <p:spPr>
          <a:xfrm>
            <a:off x="1308113" y="5040314"/>
            <a:ext cx="9500442" cy="4217986"/>
          </a:xfrm>
          <a:prstGeom prst="rect">
            <a:avLst/>
          </a:prstGeom>
        </p:spPr>
        <p:txBody>
          <a:bodyPr lIns="0" tIns="0" rIns="0" bIns="0" rtlCol="0" anchor="t">
            <a:spAutoFit/>
          </a:bodyPr>
          <a:lstStyle/>
          <a:p>
            <a:pPr marL="0" lvl="0" indent="0" algn="ctr">
              <a:lnSpc>
                <a:spcPts val="2810"/>
              </a:lnSpc>
            </a:pPr>
            <a:r>
              <a:rPr lang="en-US" sz="2341">
                <a:solidFill>
                  <a:srgbClr val="000000"/>
                </a:solidFill>
                <a:latin typeface="Canva Sans"/>
                <a:ea typeface="Canva Sans"/>
                <a:cs typeface="Canva Sans"/>
                <a:sym typeface="Canva Sans"/>
              </a:rPr>
              <a:t>Field presents nominalism as the solution, a theory asserting that only concrete, physical objects exist and the existence of abstract mathematical objects is not indispensable to science.</a:t>
            </a:r>
          </a:p>
          <a:p>
            <a:pPr marL="0" lvl="0" indent="0" algn="ctr">
              <a:lnSpc>
                <a:spcPts val="2810"/>
              </a:lnSpc>
            </a:pPr>
            <a:endParaRPr lang="en-US" sz="2341">
              <a:solidFill>
                <a:srgbClr val="000000"/>
              </a:solidFill>
              <a:latin typeface="Canva Sans"/>
              <a:ea typeface="Canva Sans"/>
              <a:cs typeface="Canva Sans"/>
              <a:sym typeface="Canva Sans"/>
            </a:endParaRPr>
          </a:p>
          <a:p>
            <a:pPr marL="0" lvl="0" indent="0" algn="ctr">
              <a:lnSpc>
                <a:spcPts val="2810"/>
              </a:lnSpc>
            </a:pPr>
            <a:r>
              <a:rPr lang="en-US" sz="2341">
                <a:solidFill>
                  <a:srgbClr val="000000"/>
                </a:solidFill>
                <a:latin typeface="Canva Sans"/>
                <a:ea typeface="Canva Sans"/>
                <a:cs typeface="Canva Sans"/>
                <a:sym typeface="Canva Sans"/>
              </a:rPr>
              <a:t>Field attempts to demonstrate this by reformulating Newton's law of universal gravitation, replacing the use of numbers and functions with relationships between physical entities.</a:t>
            </a:r>
          </a:p>
          <a:p>
            <a:pPr marL="0" lvl="0" indent="0" algn="ctr">
              <a:lnSpc>
                <a:spcPts val="2810"/>
              </a:lnSpc>
            </a:pPr>
            <a:endParaRPr lang="en-US" sz="2341">
              <a:solidFill>
                <a:srgbClr val="000000"/>
              </a:solidFill>
              <a:latin typeface="Canva Sans"/>
              <a:ea typeface="Canva Sans"/>
              <a:cs typeface="Canva Sans"/>
              <a:sym typeface="Canva Sans"/>
            </a:endParaRPr>
          </a:p>
          <a:p>
            <a:pPr marL="0" lvl="0" indent="0" algn="ctr">
              <a:lnSpc>
                <a:spcPts val="2810"/>
              </a:lnSpc>
            </a:pPr>
            <a:r>
              <a:rPr lang="en-US" sz="2341">
                <a:solidFill>
                  <a:srgbClr val="000000"/>
                </a:solidFill>
                <a:latin typeface="Canva Sans"/>
                <a:ea typeface="Canva Sans"/>
                <a:cs typeface="Canva Sans"/>
                <a:sym typeface="Canva Sans"/>
              </a:rPr>
              <a:t>He consequently concluded that mathematics is conservative - it is not a source of knowledge about the physical world and is not required for developing new scientific theories, however its efficiency is evident, therefore it remains a highly useful tool.</a:t>
            </a:r>
          </a:p>
        </p:txBody>
      </p:sp>
      <p:sp>
        <p:nvSpPr>
          <p:cNvPr id="8" name="TextBox 8"/>
          <p:cNvSpPr txBox="1"/>
          <p:nvPr/>
        </p:nvSpPr>
        <p:spPr>
          <a:xfrm>
            <a:off x="12505873" y="4415517"/>
            <a:ext cx="4056805" cy="732893"/>
          </a:xfrm>
          <a:prstGeom prst="rect">
            <a:avLst/>
          </a:prstGeom>
        </p:spPr>
        <p:txBody>
          <a:bodyPr wrap="square" lIns="0" tIns="0" rIns="0" bIns="0" rtlCol="0" anchor="t">
            <a:spAutoFit/>
          </a:bodyPr>
          <a:lstStyle/>
          <a:p>
            <a:pPr algn="ctr">
              <a:lnSpc>
                <a:spcPts val="3003"/>
              </a:lnSpc>
            </a:pPr>
            <a:r>
              <a:rPr lang="en-US" dirty="0">
                <a:solidFill>
                  <a:srgbClr val="000000"/>
                </a:solidFill>
                <a:latin typeface="Canva Sans"/>
                <a:ea typeface="Canva Sans"/>
                <a:cs typeface="Canva Sans"/>
                <a:sym typeface="Canva Sans"/>
              </a:rPr>
              <a:t>Newton's law of universal gravitation:</a:t>
            </a:r>
          </a:p>
        </p:txBody>
      </p:sp>
      <p:pic>
        <p:nvPicPr>
          <p:cNvPr id="9" name="nominalism">
            <a:hlinkClick r:id="" action="ppaction://media"/>
            <a:extLst>
              <a:ext uri="{FF2B5EF4-FFF2-40B4-BE49-F238E27FC236}">
                <a16:creationId xmlns:a16="http://schemas.microsoft.com/office/drawing/2014/main" id="{088F3F7F-58DD-E6E3-6353-C4EEB1E8C47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216946" y="7436304"/>
            <a:ext cx="730250" cy="730250"/>
          </a:xfrm>
          <a:prstGeom prst="rect">
            <a:avLst/>
          </a:prstGeom>
          <a:ln>
            <a:solidFill>
              <a:schemeClr val="bg1"/>
            </a:solidFill>
          </a:ln>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p:cTn id="31" fill="hold" display="0">
                  <p:stCondLst>
                    <p:cond delay="indefinite"/>
                  </p:stCondLst>
                  <p:endCondLst>
                    <p:cond evt="onStopAudio" delay="0">
                      <p:tgtEl>
                        <p:sldTgt/>
                      </p:tgtEl>
                    </p:cond>
                  </p:endCondLst>
                </p:cTn>
                <p:tgtEl>
                  <p:spTgt spid="9"/>
                </p:tgtEl>
              </p:cMediaNode>
            </p:audio>
          </p:childTnLst>
        </p:cTn>
      </p:par>
    </p:tnLst>
    <p:bldLst>
      <p:bldP spid="3" grpId="0"/>
      <p:bldP spid="7" grpId="0"/>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BENACERRAF AND FIELD'S ARGUMENTS AGAINST MATHEMATICAL PLATONISM</dc:title>
  <cp:revision>109</cp:revision>
  <dcterms:created xsi:type="dcterms:W3CDTF">2006-08-16T00:00:00Z</dcterms:created>
  <dcterms:modified xsi:type="dcterms:W3CDTF">2025-12-05T02:38:23Z</dcterms:modified>
  <dc:identifier>DAG6PFqXLBI</dc:identifier>
</cp:coreProperties>
</file>